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nikunta ruchitha madhuri" initials="rr" lastIdx="1" clrIdx="0">
    <p:extLst>
      <p:ext uri="{19B8F6BF-5375-455C-9EA6-DF929625EA0E}">
        <p15:presenceInfo xmlns:p15="http://schemas.microsoft.com/office/powerpoint/2012/main" userId="77d52dfee2ef77e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commentAuthors" Target="commentAuthor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500" b="1">
                <a:solidFill>
                  <a:srgbClr val="182F4E"/>
                </a:solidFill>
              </a:defRPr>
            </a:pPr>
            <a:r>
              <a:t>ELECTRICITY PRODUCTION</a:t>
            </a:r>
            <a:br/>
            <a:r>
              <a:t>FROM WASTE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45637" y="2788920"/>
            <a:ext cx="2270237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009688"/>
                </a:solidFill>
              </a:defRPr>
            </a:pPr>
            <a:r>
              <a:rPr dirty="0"/>
              <a:t>Paper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28035" y="3886200"/>
            <a:ext cx="1874519" cy="74980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WASTE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20843" y="4087368"/>
            <a:ext cx="201168" cy="329184"/>
          </a:xfrm>
          <a:prstGeom prst="rightArrow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58587" y="3886200"/>
            <a:ext cx="1874519" cy="749808"/>
          </a:xfrm>
          <a:prstGeom prst="round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dirty="0"/>
              <a:t>Useful energy</a:t>
            </a:r>
            <a:endParaRPr dirty="0"/>
          </a:p>
        </p:txBody>
      </p:sp>
      <p:sp>
        <p:nvSpPr>
          <p:cNvPr id="9" name="Right Arrow 8"/>
          <p:cNvSpPr/>
          <p:nvPr/>
        </p:nvSpPr>
        <p:spPr>
          <a:xfrm>
            <a:off x="7051395" y="4087368"/>
            <a:ext cx="201168" cy="329184"/>
          </a:xfrm>
          <a:prstGeom prst="rightArrow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89139" y="3886200"/>
            <a:ext cx="1874519" cy="749808"/>
          </a:xfrm>
          <a:prstGeom prst="roundRect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ELECTRICITY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E"/>
                </a:solidFill>
              </a:defRPr>
            </a:pPr>
            <a:r>
              <a:t>1.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4008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82F4E"/>
                </a:solidFill>
              </a:defRPr>
            </a:pPr>
            <a:r>
              <a:rPr dirty="0"/>
              <a:t>• Suitable waste materials can be converted into useful energy instead of being discarded.</a:t>
            </a:r>
          </a:p>
          <a:p>
            <a:pPr>
              <a:spcAft>
                <a:spcPts val="1800"/>
              </a:spcAft>
              <a:defRPr sz="2000">
                <a:solidFill>
                  <a:srgbClr val="182F4E"/>
                </a:solidFill>
              </a:defRPr>
            </a:pPr>
            <a:r>
              <a:rPr dirty="0"/>
              <a:t>• </a:t>
            </a:r>
            <a:r>
              <a:rPr lang="en-US" dirty="0"/>
              <a:t>our main idea is to convert suitable waste materials into useful energy and electricity 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635240" y="1600200"/>
            <a:ext cx="3566160" cy="1143000"/>
          </a:xfrm>
          <a:prstGeom prst="roundRect">
            <a:avLst/>
          </a:prstGeom>
          <a:solidFill>
            <a:srgbClr val="EDF8F7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799831" y="1709928"/>
            <a:ext cx="32369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rPr dirty="0"/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31" y="2103120"/>
            <a:ext cx="323697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2F4E"/>
                </a:solidFill>
              </a:defRPr>
            </a:pPr>
            <a:r>
              <a:rPr dirty="0"/>
              <a:t>Waste → Energy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971800"/>
            <a:ext cx="3566160" cy="1143000"/>
          </a:xfrm>
          <a:prstGeom prst="roundRect">
            <a:avLst/>
          </a:prstGeom>
          <a:solidFill>
            <a:srgbClr val="EDF8F7"/>
          </a:solidFill>
          <a:ln>
            <a:solidFill>
              <a:srgbClr val="2D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9831" y="3081528"/>
            <a:ext cx="32369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78BE"/>
                </a:solidFill>
              </a:defRPr>
            </a:pPr>
            <a:r>
              <a:t>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3474720"/>
            <a:ext cx="323697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2F4E"/>
                </a:solidFill>
              </a:defRPr>
            </a:pPr>
            <a:r>
              <a:rPr dirty="0"/>
              <a:t>Waste-to-energy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343400"/>
            <a:ext cx="3566160" cy="1143000"/>
          </a:xfrm>
          <a:prstGeom prst="roundRect">
            <a:avLst/>
          </a:prstGeom>
          <a:solidFill>
            <a:srgbClr val="EDF8F7"/>
          </a:solidFill>
          <a:ln>
            <a:solidFill>
              <a:srgbClr val="F4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99831" y="4453128"/>
            <a:ext cx="32369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48C2D"/>
                </a:solidFill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1" y="4846320"/>
            <a:ext cx="323697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2F4E"/>
                </a:solidFill>
              </a:defRPr>
            </a:pPr>
            <a:r>
              <a:t>Electricity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E"/>
                </a:solidFill>
              </a:defRPr>
            </a:pPr>
            <a:r>
              <a:t>2.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649224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82F4E"/>
                </a:solidFill>
              </a:defRPr>
            </a:pPr>
            <a:r>
              <a:rPr dirty="0"/>
              <a:t>• Urban, agricultural and household activities generate large amounts of waste.</a:t>
            </a:r>
          </a:p>
          <a:p>
            <a:pPr>
              <a:spcAft>
                <a:spcPts val="1800"/>
              </a:spcAft>
              <a:defRPr sz="2000">
                <a:solidFill>
                  <a:srgbClr val="182F4E"/>
                </a:solidFill>
              </a:defRPr>
            </a:pPr>
            <a:r>
              <a:rPr dirty="0"/>
              <a:t>• </a:t>
            </a:r>
            <a:r>
              <a:rPr lang="en-US" dirty="0"/>
              <a:t>every day, Households, cities and agriculture produces a lot of waste.</a:t>
            </a:r>
          </a:p>
          <a:p>
            <a:pPr>
              <a:spcAft>
                <a:spcPts val="1800"/>
              </a:spcAft>
              <a:defRPr sz="2000">
                <a:solidFill>
                  <a:srgbClr val="182F4E"/>
                </a:solidFill>
              </a:defRPr>
            </a:pPr>
            <a:r>
              <a:rPr lang="en-US" dirty="0"/>
              <a:t>•waste –to-energy  helps manage this waste and recover useful energy 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3028035" y="4526280"/>
            <a:ext cx="1874519" cy="74980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WASTE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20843" y="4727448"/>
            <a:ext cx="201168" cy="329184"/>
          </a:xfrm>
          <a:prstGeom prst="rightArrow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58587" y="4526280"/>
            <a:ext cx="1874519" cy="749808"/>
          </a:xfrm>
          <a:prstGeom prst="round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PROCESSING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51395" y="4727448"/>
            <a:ext cx="201168" cy="329184"/>
          </a:xfrm>
          <a:prstGeom prst="rightArrow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89139" y="4526280"/>
            <a:ext cx="1874519" cy="749808"/>
          </a:xfrm>
          <a:prstGeom prst="roundRect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ENERGY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E"/>
                </a:solidFill>
              </a:defRPr>
            </a:pPr>
            <a:r>
              <a:t>3.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0584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82F4E"/>
                </a:solidFill>
              </a:defRPr>
            </a:pPr>
            <a:r>
              <a:rPr dirty="0"/>
              <a:t>• To explain how suitable waste materials can be converted into electricity.</a:t>
            </a:r>
          </a:p>
          <a:p>
            <a:pPr>
              <a:spcAft>
                <a:spcPts val="1800"/>
              </a:spcAft>
              <a:defRPr sz="2200">
                <a:solidFill>
                  <a:srgbClr val="182F4E"/>
                </a:solidFill>
              </a:defRPr>
            </a:pPr>
            <a:r>
              <a:rPr dirty="0"/>
              <a:t>•</a:t>
            </a:r>
            <a:r>
              <a:rPr lang="en-US" dirty="0"/>
              <a:t>our objectives are to understand waste to electricity conversion, learn the main methods and understand it’s role in sustainable waste management.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3028035" y="4800600"/>
            <a:ext cx="1874519" cy="74980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UNDERSTAND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20843" y="5001768"/>
            <a:ext cx="201168" cy="329184"/>
          </a:xfrm>
          <a:prstGeom prst="rightArrow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58587" y="4800600"/>
            <a:ext cx="1874519" cy="749808"/>
          </a:xfrm>
          <a:prstGeom prst="round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CONVERT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51395" y="5001768"/>
            <a:ext cx="201168" cy="329184"/>
          </a:xfrm>
          <a:prstGeom prst="rightArrow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89139" y="4800600"/>
            <a:ext cx="1874519" cy="749808"/>
          </a:xfrm>
          <a:prstGeom prst="roundRect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SUSTAIN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E"/>
                </a:solidFill>
              </a:defRPr>
            </a:pPr>
            <a:r>
              <a:t>4.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4"/>
                </a:solidFill>
              </a:defRPr>
            </a:pPr>
            <a:r>
              <a:t>Three important conversion methods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29858"/>
            <a:ext cx="3520440" cy="1965960"/>
          </a:xfrm>
          <a:prstGeom prst="roundRect">
            <a:avLst/>
          </a:prstGeom>
          <a:solidFill>
            <a:srgbClr val="EDF8F7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Combustion means of a substance in the presence of oxygen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1" y="1527048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1. Combustion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4630" y="2427490"/>
            <a:ext cx="3502580" cy="1714397"/>
          </a:xfrm>
          <a:prstGeom prst="roundRect">
            <a:avLst>
              <a:gd name="adj" fmla="val 50000"/>
            </a:avLst>
          </a:prstGeom>
          <a:solidFill>
            <a:srgbClr val="EDF8F7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Microorganisms break down organic waste without oxygen 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485132" y="2073108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78BE"/>
                </a:solidFill>
              </a:defRPr>
            </a:pPr>
            <a:r>
              <a:t>2. Anaerobic Digestion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2" y="944092"/>
            <a:ext cx="3023812" cy="2484908"/>
          </a:xfrm>
          <a:prstGeom prst="roundRect">
            <a:avLst/>
          </a:prstGeom>
          <a:solidFill>
            <a:srgbClr val="EDF8F7"/>
          </a:solidFill>
          <a:ln>
            <a:solidFill>
              <a:srgbClr val="F48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527048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48C2D"/>
                </a:solidFill>
              </a:defRPr>
            </a:pPr>
            <a:r>
              <a:t>3. Gasification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920240"/>
            <a:ext cx="2889702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82F4E"/>
                </a:solidFill>
              </a:defRPr>
            </a:pPr>
            <a:r>
              <a:rPr dirty="0"/>
              <a:t>Waste is heated with limited oxygen</a:t>
            </a:r>
            <a:endParaRPr lang="en-US" dirty="0"/>
          </a:p>
          <a:p>
            <a:pPr>
              <a:defRPr sz="1300">
                <a:solidFill>
                  <a:srgbClr val="182F4E"/>
                </a:solidFill>
              </a:defRPr>
            </a:pPr>
            <a:r>
              <a:rPr dirty="0"/>
              <a:t> to produce syngas that can be used for </a:t>
            </a:r>
            <a:endParaRPr lang="en-US" dirty="0"/>
          </a:p>
          <a:p>
            <a:pPr>
              <a:defRPr sz="1300">
                <a:solidFill>
                  <a:srgbClr val="182F4E"/>
                </a:solidFill>
              </a:defRPr>
            </a:pPr>
            <a:r>
              <a:rPr dirty="0"/>
              <a:t>power generation.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62759" y="4251960"/>
            <a:ext cx="1874519" cy="74980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WASTE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55567" y="4453128"/>
            <a:ext cx="201168" cy="329184"/>
          </a:xfrm>
          <a:prstGeom prst="rightArrow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093311" y="4251960"/>
            <a:ext cx="1874519" cy="749808"/>
          </a:xfrm>
          <a:prstGeom prst="round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CONVERSION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86119" y="4453128"/>
            <a:ext cx="201168" cy="329184"/>
          </a:xfrm>
          <a:prstGeom prst="rightArrow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23863" y="4251960"/>
            <a:ext cx="1874519" cy="749808"/>
          </a:xfrm>
          <a:prstGeom prst="roundRect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GENERATOR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116671" y="4453128"/>
            <a:ext cx="201168" cy="329184"/>
          </a:xfrm>
          <a:prstGeom prst="rightArrow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54415" y="4251960"/>
            <a:ext cx="1874519" cy="749808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ELECTRICITY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E"/>
                </a:solidFill>
              </a:defRPr>
            </a:pPr>
            <a:r>
              <a:t>5. Results &amp; Discussion /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58368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182F4E"/>
                </a:solidFill>
              </a:defRPr>
            </a:pPr>
            <a:r>
              <a:rPr dirty="0"/>
              <a:t>• </a:t>
            </a:r>
            <a:r>
              <a:rPr lang="en-US" dirty="0"/>
              <a:t>For example, organic waste can be put into a digester to produce </a:t>
            </a:r>
            <a:r>
              <a:rPr lang="en-US" dirty="0" err="1"/>
              <a:t>biogas.The</a:t>
            </a:r>
            <a:r>
              <a:rPr lang="en-US" dirty="0"/>
              <a:t> biogas is then used in a generator to produce electricity.</a:t>
            </a:r>
            <a:endParaRPr dirty="0"/>
          </a:p>
          <a:p>
            <a:pPr>
              <a:spcAft>
                <a:spcPts val="1800"/>
              </a:spcAft>
              <a:defRPr sz="1800">
                <a:solidFill>
                  <a:srgbClr val="182F4E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962759" y="4160520"/>
            <a:ext cx="1874519" cy="74980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ORGANIC WASTE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55567" y="4361688"/>
            <a:ext cx="201168" cy="329184"/>
          </a:xfrm>
          <a:prstGeom prst="rightArrow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093311" y="4160520"/>
            <a:ext cx="1874519" cy="749808"/>
          </a:xfrm>
          <a:prstGeom prst="round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DIGESTER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86119" y="4361688"/>
            <a:ext cx="201168" cy="329184"/>
          </a:xfrm>
          <a:prstGeom prst="rightArrow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23863" y="4160520"/>
            <a:ext cx="1874519" cy="749808"/>
          </a:xfrm>
          <a:prstGeom prst="roundRect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BIOGAS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16671" y="4361688"/>
            <a:ext cx="201168" cy="329184"/>
          </a:xfrm>
          <a:prstGeom prst="rightArrow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54415" y="4160520"/>
            <a:ext cx="1874519" cy="749808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GENERATOR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E"/>
                </a:solidFill>
              </a:defRPr>
            </a:pPr>
            <a:r>
              <a:t>6.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00472"/>
            <a:ext cx="1033272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182F4E"/>
                </a:solidFill>
              </a:defRPr>
            </a:pPr>
            <a:r>
              <a:rPr dirty="0"/>
              <a:t>• Suitable waste materials can be treated as a resource for energy recovery.</a:t>
            </a:r>
          </a:p>
          <a:p>
            <a:pPr>
              <a:spcAft>
                <a:spcPts val="1800"/>
              </a:spcAft>
              <a:defRPr sz="2100">
                <a:solidFill>
                  <a:srgbClr val="182F4E"/>
                </a:solidFill>
              </a:defRPr>
            </a:pPr>
            <a:r>
              <a:rPr dirty="0"/>
              <a:t>• </a:t>
            </a:r>
            <a:r>
              <a:rPr lang="en-US" dirty="0"/>
              <a:t>To conclude, waste can be treated as a resource for energy. Waste to energy can support cleaner and sustainable waste management 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962759" y="4892040"/>
            <a:ext cx="1874519" cy="74980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WASTE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55567" y="5093207"/>
            <a:ext cx="201168" cy="329184"/>
          </a:xfrm>
          <a:prstGeom prst="rightArrow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093311" y="4892040"/>
            <a:ext cx="1874519" cy="749808"/>
          </a:xfrm>
          <a:prstGeom prst="roundRect">
            <a:avLst/>
          </a:prstGeom>
          <a:solidFill>
            <a:srgbClr val="2D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RESOURCE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86119" y="5093207"/>
            <a:ext cx="201168" cy="329184"/>
          </a:xfrm>
          <a:prstGeom prst="rightArrow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23863" y="4892040"/>
            <a:ext cx="1874519" cy="749808"/>
          </a:xfrm>
          <a:prstGeom prst="roundRect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ENERGY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16671" y="5093207"/>
            <a:ext cx="201168" cy="329184"/>
          </a:xfrm>
          <a:prstGeom prst="rightArrow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54415" y="4892040"/>
            <a:ext cx="1874519" cy="749808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SUSTAINABILITY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4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E"/>
                </a:solidFill>
              </a:defRPr>
            </a:pPr>
            <a:r>
              <a:t>7.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2412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82F4E"/>
                </a:solidFill>
              </a:defRPr>
            </a:pPr>
            <a:r>
              <a:rPr dirty="0"/>
              <a:t>• International Energy Agency (IEA) – Waste and energy resources.</a:t>
            </a:r>
          </a:p>
          <a:p>
            <a:pPr>
              <a:spcAft>
                <a:spcPts val="1800"/>
              </a:spcAft>
              <a:defRPr sz="2000">
                <a:solidFill>
                  <a:srgbClr val="182F4E"/>
                </a:solidFill>
              </a:defRPr>
            </a:pPr>
            <a:r>
              <a:rPr dirty="0"/>
              <a:t>• U.S. Environmental Protection Agency (EPA) – Energy Recovery from Waste.</a:t>
            </a:r>
          </a:p>
          <a:p>
            <a:pPr>
              <a:spcAft>
                <a:spcPts val="1800"/>
              </a:spcAft>
              <a:defRPr sz="2000">
                <a:solidFill>
                  <a:srgbClr val="182F4E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023360" y="5212080"/>
            <a:ext cx="4114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9688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renikunta ruchitha madhuri</cp:lastModifiedBy>
  <cp:revision>3</cp:revision>
  <dcterms:created xsi:type="dcterms:W3CDTF">2013-01-27T09:14:16Z</dcterms:created>
  <dcterms:modified xsi:type="dcterms:W3CDTF">2026-09-24T06:32:12Z</dcterms:modified>
  <cp:category/>
</cp:coreProperties>
</file>